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8"/>
  </p:normalViewPr>
  <p:slideViewPr>
    <p:cSldViewPr snapToGrid="0" snapToObjects="1">
      <p:cViewPr varScale="1">
        <p:scale>
          <a:sx n="90" d="100"/>
          <a:sy n="90" d="100"/>
        </p:scale>
        <p:origin x="3208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82880" y="-182880"/>
            <a:ext cx="8138160" cy="2743200"/>
          </a:xfrm>
          <a:prstGeom prst="rect">
            <a:avLst/>
          </a:prstGeom>
          <a:solidFill>
            <a:srgbClr val="2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182880" y="2514600"/>
            <a:ext cx="8138160" cy="109728"/>
          </a:xfrm>
          <a:prstGeom prst="rect">
            <a:avLst/>
          </a:prstGeom>
          <a:solidFill>
            <a:srgbClr val="E6B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926080" y="182879"/>
            <a:ext cx="1920240" cy="1920240"/>
          </a:xfrm>
          <a:prstGeom prst="ellipse">
            <a:avLst/>
          </a:prstGeom>
          <a:solidFill>
            <a:srgbClr val="FBF6EC"/>
          </a:solidFill>
          <a:ln w="38100">
            <a:solidFill>
              <a:srgbClr val="E6B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484" y="221284"/>
            <a:ext cx="1843430" cy="18434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2084831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2C766"/>
                </a:solidFill>
                <a:latin typeface="Georgia"/>
              </a:rPr>
              <a:t>FIRST-GENERATION UNDERREPRESENTED IN RESEARCH &amp; MEDICINE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6858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 i="0">
                <a:solidFill>
                  <a:srgbClr val="2F5D43"/>
                </a:solidFill>
                <a:latin typeface="Georgia"/>
              </a:rPr>
              <a:t>You Belong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6492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 u="none">
                <a:solidFill>
                  <a:srgbClr val="5A4230"/>
                </a:solidFill>
                <a:latin typeface="Georgia"/>
              </a:rPr>
              <a:t>However </a:t>
            </a:r>
            <a:r>
              <a:rPr sz="1500" b="1" i="0" u="sng">
                <a:solidFill>
                  <a:srgbClr val="2F5D43"/>
                </a:solidFill>
                <a:latin typeface="Georgia"/>
              </a:rPr>
              <a:t>YOU</a:t>
            </a:r>
            <a:r>
              <a:rPr sz="1500" b="0" i="0" u="none">
                <a:solidFill>
                  <a:srgbClr val="5A4230"/>
                </a:solidFill>
                <a:latin typeface="Georgia"/>
              </a:rPr>
              <a:t> Define First-Gen Or Underrepresented — Come Find Your People.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2F5D43"/>
                </a:solidFill>
                <a:latin typeface="Georgia"/>
              </a:rPr>
              <a:t>This Fall At FURM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12080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 u="none">
                <a:solidFill>
                  <a:srgbClr val="E6B23E"/>
                </a:solidFill>
                <a:latin typeface="Georgia"/>
              </a:rPr>
              <a:t>•  </a:t>
            </a:r>
            <a:r>
              <a:rPr sz="1250" b="1" i="0" u="none">
                <a:solidFill>
                  <a:srgbClr val="3D2B1F"/>
                </a:solidFill>
                <a:latin typeface="Georgia"/>
              </a:rPr>
              <a:t>Kickoff Social · Late September</a:t>
            </a:r>
            <a:r>
              <a:rPr sz="1250" b="0" i="1" u="none">
                <a:solidFill>
                  <a:srgbClr val="5A4230"/>
                </a:solidFill>
                <a:latin typeface="Georgia"/>
              </a:rPr>
              <a:t>  —  Food, Games &amp; Meeting Your People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614416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 u="none">
                <a:solidFill>
                  <a:srgbClr val="E6B23E"/>
                </a:solidFill>
                <a:latin typeface="Georgia"/>
              </a:rPr>
              <a:t>•  </a:t>
            </a:r>
            <a:r>
              <a:rPr sz="1250" b="1" i="0" u="none">
                <a:solidFill>
                  <a:srgbClr val="3D2B1F"/>
                </a:solidFill>
                <a:latin typeface="Georgia"/>
              </a:rPr>
              <a:t>CubCare Mentor / Mentee · October</a:t>
            </a:r>
            <a:r>
              <a:rPr sz="1250" b="0" i="1" u="none">
                <a:solidFill>
                  <a:srgbClr val="5A4230"/>
                </a:solidFill>
                <a:latin typeface="Georgia"/>
              </a:rPr>
              <a:t>  —  Get Paired With Someone Who Gets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6016752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 u="none">
                <a:solidFill>
                  <a:srgbClr val="E6B23E"/>
                </a:solidFill>
                <a:latin typeface="Georgia"/>
              </a:rPr>
              <a:t>•  </a:t>
            </a:r>
            <a:r>
              <a:rPr sz="1250" b="1" i="0" u="none">
                <a:solidFill>
                  <a:srgbClr val="3D2B1F"/>
                </a:solidFill>
                <a:latin typeface="Georgia"/>
              </a:rPr>
              <a:t>Life @ Med School · November</a:t>
            </a:r>
            <a:r>
              <a:rPr sz="1250" b="0" i="1" u="none">
                <a:solidFill>
                  <a:srgbClr val="5A4230"/>
                </a:solidFill>
                <a:latin typeface="Georgia"/>
              </a:rPr>
              <a:t>  —  An Honest Panel With Med Students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6419088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 u="none">
                <a:solidFill>
                  <a:srgbClr val="E6B23E"/>
                </a:solidFill>
                <a:latin typeface="Georgia"/>
              </a:rPr>
              <a:t>•  </a:t>
            </a:r>
            <a:r>
              <a:rPr sz="1250" b="1" i="0" u="none">
                <a:solidFill>
                  <a:srgbClr val="3D2B1F"/>
                </a:solidFill>
                <a:latin typeface="Georgia"/>
              </a:rPr>
              <a:t>De-Stress Events · Reading Period</a:t>
            </a:r>
            <a:r>
              <a:rPr sz="1250" b="0" i="1" u="none">
                <a:solidFill>
                  <a:srgbClr val="5A4230"/>
                </a:solidFill>
                <a:latin typeface="Georgia"/>
              </a:rPr>
              <a:t>  —  Comfort Food &amp; Calm During Finals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6821424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 u="none">
                <a:solidFill>
                  <a:srgbClr val="E6B23E"/>
                </a:solidFill>
                <a:latin typeface="Georgia"/>
              </a:rPr>
              <a:t>•  </a:t>
            </a:r>
            <a:r>
              <a:rPr sz="1250" b="1" i="0" u="none">
                <a:solidFill>
                  <a:srgbClr val="3D2B1F"/>
                </a:solidFill>
                <a:latin typeface="Georgia"/>
              </a:rPr>
              <a:t>Giveaways · All Semester!</a:t>
            </a:r>
            <a:r>
              <a:rPr sz="1250" b="0" i="1" u="none">
                <a:solidFill>
                  <a:srgbClr val="5A4230"/>
                </a:solidFill>
                <a:latin typeface="Georgia"/>
              </a:rPr>
              <a:t>  —  Free Stuff, Thanks To Our Sponsors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7360920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1">
                <a:solidFill>
                  <a:srgbClr val="2F5D43"/>
                </a:solidFill>
                <a:latin typeface="Georgia"/>
              </a:rPr>
              <a:t>Interested In Leadership? Open E-Board Roles — Priority Deadline Sept 18.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7863840"/>
            <a:ext cx="6126480" cy="1737360"/>
          </a:xfrm>
          <a:prstGeom prst="roundRect">
            <a:avLst/>
          </a:prstGeom>
          <a:solidFill>
            <a:srgbClr val="2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qr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8206740"/>
            <a:ext cx="1051560" cy="10515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148840" y="7863840"/>
            <a:ext cx="47091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Scan To Join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F2C766"/>
                </a:solidFill>
                <a:latin typeface="Georgia"/>
              </a:rPr>
              <a:t>Our Mailing List, Mentorship &amp; E-Board</a:t>
            </a:r>
          </a:p>
          <a:p>
            <a:pPr algn="l">
              <a:spcAft>
                <a:spcPts val="200"/>
              </a:spcAft>
            </a:pPr>
            <a:r>
              <a:rPr sz="1250" b="0" i="1">
                <a:solidFill>
                  <a:srgbClr val="ECE6D6"/>
                </a:solidFill>
                <a:latin typeface="Georgia"/>
              </a:rPr>
              <a:t>Brown Bears — Come As You Are.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772400" cy="320040"/>
          </a:xfrm>
          <a:prstGeom prst="rect">
            <a:avLst/>
          </a:prstGeom>
          <a:solidFill>
            <a:srgbClr val="2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738360"/>
            <a:ext cx="7772400" cy="320040"/>
          </a:xfrm>
          <a:prstGeom prst="rect">
            <a:avLst/>
          </a:prstGeom>
          <a:solidFill>
            <a:srgbClr val="2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651760" y="1051560"/>
            <a:ext cx="2468880" cy="2468880"/>
          </a:xfrm>
          <a:prstGeom prst="ellipse">
            <a:avLst/>
          </a:prstGeom>
          <a:solidFill>
            <a:srgbClr val="FBF6EC"/>
          </a:solidFill>
          <a:ln w="38100">
            <a:solidFill>
              <a:srgbClr val="2F5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137" y="1100937"/>
            <a:ext cx="2370124" cy="23701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79476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7A5B16"/>
                </a:solidFill>
                <a:latin typeface="Georgia"/>
              </a:rPr>
              <a:t>FURM · Brown PLME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6858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2F5D43"/>
                </a:solidFill>
                <a:latin typeface="Georgia"/>
              </a:rPr>
              <a:t>You Belong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49240"/>
            <a:ext cx="5943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 u="none" dirty="0">
                <a:solidFill>
                  <a:srgbClr val="5A4230"/>
                </a:solidFill>
                <a:latin typeface="Georgia"/>
              </a:rPr>
              <a:t>First-Gen? Underrepresented In Medicine Or Research? However </a:t>
            </a:r>
            <a:r>
              <a:rPr sz="1600" b="1" i="0" u="sng" dirty="0">
                <a:solidFill>
                  <a:srgbClr val="2F5D43"/>
                </a:solidFill>
                <a:latin typeface="Georgia"/>
              </a:rPr>
              <a:t>YOU</a:t>
            </a:r>
            <a:r>
              <a:rPr sz="1600" b="0" i="0" u="none" dirty="0">
                <a:solidFill>
                  <a:srgbClr val="5A4230"/>
                </a:solidFill>
                <a:latin typeface="Georgia"/>
              </a:rPr>
              <a:t> Define That — There's A Place For You Here.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6446520"/>
            <a:ext cx="1828800" cy="36576"/>
          </a:xfrm>
          <a:prstGeom prst="rect">
            <a:avLst/>
          </a:prstGeom>
          <a:solidFill>
            <a:srgbClr val="E6B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629400"/>
            <a:ext cx="6309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2F5D43"/>
                </a:solidFill>
                <a:latin typeface="Georgia"/>
              </a:rPr>
              <a:t>Community · Mentorship · Belonging</a:t>
            </a:r>
          </a:p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5A4230"/>
                </a:solidFill>
                <a:latin typeface="Georgia"/>
              </a:rPr>
              <a:t>Events All Semester, Plus Our CubCare Mentorship Program.</a:t>
            </a:r>
          </a:p>
        </p:txBody>
      </p:sp>
      <p:pic>
        <p:nvPicPr>
          <p:cNvPr id="11" name="Picture 10" descr="qr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7635240"/>
            <a:ext cx="1554480" cy="1554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918972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F5D43"/>
                </a:solidFill>
                <a:latin typeface="Georgia"/>
              </a:rPr>
              <a:t>Scan To Join Our Mailing List &amp; Programs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82880" y="-182880"/>
            <a:ext cx="3017520" cy="10424160"/>
          </a:xfrm>
          <a:prstGeom prst="rect">
            <a:avLst/>
          </a:prstGeom>
          <a:solidFill>
            <a:srgbClr val="2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834640" y="-182880"/>
            <a:ext cx="109728" cy="10424160"/>
          </a:xfrm>
          <a:prstGeom prst="rect">
            <a:avLst/>
          </a:prstGeom>
          <a:solidFill>
            <a:srgbClr val="E6B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79" y="457200"/>
            <a:ext cx="2011680" cy="2011680"/>
          </a:xfrm>
          <a:prstGeom prst="ellipse">
            <a:avLst/>
          </a:prstGeom>
          <a:solidFill>
            <a:srgbClr val="FBF6EC"/>
          </a:solidFill>
          <a:ln w="38100">
            <a:solidFill>
              <a:srgbClr val="E6B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" y="497433"/>
            <a:ext cx="1931212" cy="1931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2697480"/>
            <a:ext cx="2377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First-Generation</a:t>
            </a:r>
          </a:p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Underrepresented</a:t>
            </a:r>
          </a:p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In Research &amp;</a:t>
            </a:r>
          </a:p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Medicine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029200"/>
            <a:ext cx="2377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2C766"/>
                </a:solidFill>
                <a:latin typeface="Georgia"/>
              </a:rPr>
              <a:t>Community</a:t>
            </a:r>
          </a:p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2C766"/>
                </a:solidFill>
                <a:latin typeface="Georgia"/>
              </a:rPr>
              <a:t>Care</a:t>
            </a:r>
          </a:p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2C766"/>
                </a:solidFill>
                <a:latin typeface="Georgia"/>
              </a:rPr>
              <a:t>Belonging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877824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ECE6D6"/>
                </a:solidFill>
                <a:latin typeface="Georgia"/>
              </a:rPr>
              <a:t>Brown Bears —
Come As You 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64008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2F5D43"/>
                </a:solidFill>
                <a:latin typeface="Georgia"/>
              </a:rPr>
              <a:t>You Belong 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60020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u="none" dirty="0">
                <a:solidFill>
                  <a:srgbClr val="5A4230"/>
                </a:solidFill>
                <a:latin typeface="Georgia"/>
              </a:rPr>
              <a:t>However </a:t>
            </a:r>
            <a:r>
              <a:rPr sz="1500" b="1" i="0" u="sng" dirty="0">
                <a:solidFill>
                  <a:srgbClr val="2F5D43"/>
                </a:solidFill>
                <a:latin typeface="Georgia"/>
              </a:rPr>
              <a:t>YOU</a:t>
            </a:r>
            <a:r>
              <a:rPr sz="1500" b="0" i="0" u="none" dirty="0">
                <a:solidFill>
                  <a:srgbClr val="5A4230"/>
                </a:solidFill>
                <a:latin typeface="Georgia"/>
              </a:rPr>
              <a:t> Define First-Gen Or Underrepresented — Come Find Your People.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697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F5D43"/>
                </a:solidFill>
                <a:latin typeface="Georgia"/>
              </a:rPr>
              <a:t>This Fall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15468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3D2B1F"/>
                </a:solidFill>
                <a:latin typeface="Georgia"/>
              </a:rPr>
              <a:t>Kickoff Social · Late September</a:t>
            </a:r>
          </a:p>
          <a:p>
            <a:pPr algn="l">
              <a:spcAft>
                <a:spcPts val="100"/>
              </a:spcAft>
            </a:pPr>
            <a:r>
              <a:rPr sz="1150" b="0" i="1">
                <a:solidFill>
                  <a:srgbClr val="5A4230"/>
                </a:solidFill>
                <a:latin typeface="Georgia"/>
              </a:rPr>
              <a:t>Food, Games &amp; Meeting Your People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813048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3D2B1F"/>
                </a:solidFill>
                <a:latin typeface="Georgia"/>
              </a:rPr>
              <a:t>CubCare Mentor / Mentee · October</a:t>
            </a:r>
          </a:p>
          <a:p>
            <a:pPr algn="l">
              <a:spcAft>
                <a:spcPts val="100"/>
              </a:spcAft>
            </a:pPr>
            <a:r>
              <a:rPr sz="1150" b="0" i="1">
                <a:solidFill>
                  <a:srgbClr val="5A4230"/>
                </a:solidFill>
                <a:latin typeface="Georgia"/>
              </a:rPr>
              <a:t>Get Paired With Someone Who Gets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471416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3D2B1F"/>
                </a:solidFill>
                <a:latin typeface="Georgia"/>
              </a:rPr>
              <a:t>Life @ Med School · November</a:t>
            </a:r>
          </a:p>
          <a:p>
            <a:pPr algn="l">
              <a:spcAft>
                <a:spcPts val="100"/>
              </a:spcAft>
            </a:pPr>
            <a:r>
              <a:rPr sz="1150" b="0" i="1">
                <a:solidFill>
                  <a:srgbClr val="5A4230"/>
                </a:solidFill>
                <a:latin typeface="Georgia"/>
              </a:rPr>
              <a:t>An Honest Panel With Med 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5129783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3D2B1F"/>
                </a:solidFill>
                <a:latin typeface="Georgia"/>
              </a:rPr>
              <a:t>De-Stress Events · Reading Period</a:t>
            </a:r>
          </a:p>
          <a:p>
            <a:pPr algn="l">
              <a:spcAft>
                <a:spcPts val="100"/>
              </a:spcAft>
            </a:pPr>
            <a:r>
              <a:rPr sz="1150" b="0" i="1">
                <a:solidFill>
                  <a:srgbClr val="5A4230"/>
                </a:solidFill>
                <a:latin typeface="Georgia"/>
              </a:rPr>
              <a:t>Comfort Food &amp; Calm During Finals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788151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3D2B1F"/>
                </a:solidFill>
                <a:latin typeface="Georgia"/>
              </a:rPr>
              <a:t>Giveaways · All Semester!</a:t>
            </a:r>
          </a:p>
          <a:p>
            <a:pPr algn="l">
              <a:spcAft>
                <a:spcPts val="100"/>
              </a:spcAft>
            </a:pPr>
            <a:r>
              <a:rPr sz="1150" b="0" i="1">
                <a:solidFill>
                  <a:srgbClr val="5A4230"/>
                </a:solidFill>
                <a:latin typeface="Georgia"/>
              </a:rPr>
              <a:t>Free Stuff, Thanks To Our Sponsors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8138160"/>
            <a:ext cx="4114800" cy="1463040"/>
          </a:xfrm>
          <a:prstGeom prst="roundRect">
            <a:avLst/>
          </a:prstGeom>
          <a:solidFill>
            <a:srgbClr val="2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qr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8343900"/>
            <a:ext cx="1051560" cy="10515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617720" y="8138160"/>
            <a:ext cx="26974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Scan To Join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F2C766"/>
                </a:solidFill>
                <a:latin typeface="Georgia"/>
              </a:rPr>
              <a:t>Mailing List, Mentorship &amp; E-Board</a:t>
            </a:r>
          </a:p>
          <a:p>
            <a:pPr algn="l">
              <a:spcAft>
                <a:spcPts val="200"/>
              </a:spcAft>
            </a:pPr>
            <a:r>
              <a:rPr sz="1250" b="0" i="1">
                <a:solidFill>
                  <a:srgbClr val="ECE6D6"/>
                </a:solidFill>
                <a:latin typeface="Georgia"/>
              </a:rPr>
              <a:t>Priority E-Board Deadline: Sept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017520" y="182879"/>
            <a:ext cx="1737360" cy="1737360"/>
          </a:xfrm>
          <a:prstGeom prst="ellipse">
            <a:avLst/>
          </a:prstGeom>
          <a:solidFill>
            <a:srgbClr val="FBF6EC"/>
          </a:solidFill>
          <a:ln w="38100">
            <a:solidFill>
              <a:srgbClr val="2F5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267" y="217627"/>
            <a:ext cx="1667865" cy="16678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965960"/>
            <a:ext cx="6858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2F5D43"/>
                </a:solidFill>
                <a:latin typeface="Georgia"/>
              </a:rPr>
              <a:t>You Belong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0195" y="2829907"/>
            <a:ext cx="463200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400" dirty="0">
                <a:solidFill>
                  <a:srgbClr val="5A4230"/>
                </a:solidFill>
                <a:latin typeface="Georgia"/>
              </a:rPr>
              <a:t>First-Gen? Underrepresented In Medicine Or Research? However </a:t>
            </a:r>
            <a:r>
              <a:rPr lang="en-US" sz="1400" b="1" u="sng" dirty="0">
                <a:solidFill>
                  <a:srgbClr val="2F5D43"/>
                </a:solidFill>
                <a:latin typeface="Georgia"/>
              </a:rPr>
              <a:t>YOU</a:t>
            </a:r>
            <a:r>
              <a:rPr lang="en-US" sz="1400" dirty="0">
                <a:solidFill>
                  <a:srgbClr val="5A4230"/>
                </a:solidFill>
                <a:latin typeface="Georgia"/>
              </a:rPr>
              <a:t> Define That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29000"/>
            <a:ext cx="6309360" cy="777240"/>
          </a:xfrm>
          <a:prstGeom prst="roundRect">
            <a:avLst/>
          </a:prstGeom>
          <a:solidFill>
            <a:srgbClr val="E6B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6126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2100" b="1" i="0">
                <a:solidFill>
                  <a:srgbClr val="3D2B1F"/>
                </a:solidFill>
                <a:latin typeface="Georgia"/>
              </a:rPr>
              <a:t>Find Your People.</a:t>
            </a:r>
          </a:p>
          <a:p>
            <a:pPr algn="ctr">
              <a:spcAft>
                <a:spcPts val="100"/>
              </a:spcAft>
            </a:pPr>
            <a:r>
              <a:rPr sz="1150" b="0" i="1">
                <a:solidFill>
                  <a:srgbClr val="7A5B16"/>
                </a:solidFill>
                <a:latin typeface="Georgia"/>
              </a:rPr>
              <a:t>A Home For First-Gen &amp; Underrepresented Students In Medicine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34840"/>
            <a:ext cx="3063240" cy="960120"/>
          </a:xfrm>
          <a:prstGeom prst="roundRect">
            <a:avLst/>
          </a:prstGeom>
          <a:solidFill>
            <a:srgbClr val="FBF6EC"/>
          </a:solidFill>
          <a:ln w="17780">
            <a:solidFill>
              <a:srgbClr val="2F5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4507992"/>
            <a:ext cx="2843784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2F5D43"/>
                </a:solidFill>
                <a:latin typeface="Georgia"/>
              </a:rPr>
              <a:t>Kickoff Social</a:t>
            </a:r>
          </a:p>
          <a:p>
            <a:pPr algn="ctr">
              <a:spcAft>
                <a:spcPts val="0"/>
              </a:spcAft>
            </a:pPr>
            <a:r>
              <a:rPr sz="1050" b="1" i="1">
                <a:solidFill>
                  <a:srgbClr val="7A5B16"/>
                </a:solidFill>
                <a:latin typeface="Georgia"/>
              </a:rPr>
              <a:t>Late September</a:t>
            </a:r>
          </a:p>
          <a:p>
            <a:pPr algn="ctr">
              <a:spcAft>
                <a:spcPts val="0"/>
              </a:spcAft>
            </a:pPr>
            <a:r>
              <a:rPr sz="1050" b="0" i="1">
                <a:solidFill>
                  <a:srgbClr val="5A4230"/>
                </a:solidFill>
                <a:latin typeface="Georgia"/>
              </a:rPr>
              <a:t>Food, Games &amp; Meeting Your People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40" y="4434840"/>
            <a:ext cx="3063240" cy="960120"/>
          </a:xfrm>
          <a:prstGeom prst="roundRect">
            <a:avLst/>
          </a:prstGeom>
          <a:solidFill>
            <a:srgbClr val="FBF6EC"/>
          </a:solidFill>
          <a:ln w="17780">
            <a:solidFill>
              <a:srgbClr val="2F5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87368" y="4507992"/>
            <a:ext cx="2843784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2F5D43"/>
                </a:solidFill>
                <a:latin typeface="Georgia"/>
              </a:rPr>
              <a:t>CubCare Mentor / Mentee</a:t>
            </a:r>
          </a:p>
          <a:p>
            <a:pPr algn="ctr">
              <a:spcAft>
                <a:spcPts val="0"/>
              </a:spcAft>
            </a:pPr>
            <a:r>
              <a:rPr sz="1050" b="1" i="1">
                <a:solidFill>
                  <a:srgbClr val="7A5B16"/>
                </a:solidFill>
                <a:latin typeface="Georgia"/>
              </a:rPr>
              <a:t>October</a:t>
            </a:r>
          </a:p>
          <a:p>
            <a:pPr algn="ctr">
              <a:spcAft>
                <a:spcPts val="0"/>
              </a:spcAft>
            </a:pPr>
            <a:r>
              <a:rPr sz="1050" b="0" i="1">
                <a:solidFill>
                  <a:srgbClr val="5A4230"/>
                </a:solidFill>
                <a:latin typeface="Georgia"/>
              </a:rPr>
              <a:t>Get Paired With Someone Who Gets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32120"/>
            <a:ext cx="3063240" cy="960120"/>
          </a:xfrm>
          <a:prstGeom prst="roundRect">
            <a:avLst/>
          </a:prstGeom>
          <a:solidFill>
            <a:srgbClr val="FBF6EC"/>
          </a:solidFill>
          <a:ln w="17780">
            <a:solidFill>
              <a:srgbClr val="2F5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5605272"/>
            <a:ext cx="2843784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2F5D43"/>
                </a:solidFill>
                <a:latin typeface="Georgia"/>
              </a:rPr>
              <a:t>Life @ Med School</a:t>
            </a:r>
          </a:p>
          <a:p>
            <a:pPr algn="ctr">
              <a:spcAft>
                <a:spcPts val="0"/>
              </a:spcAft>
            </a:pPr>
            <a:r>
              <a:rPr sz="1050" b="1" i="1">
                <a:solidFill>
                  <a:srgbClr val="7A5B16"/>
                </a:solidFill>
                <a:latin typeface="Georgia"/>
              </a:rPr>
              <a:t>November</a:t>
            </a:r>
          </a:p>
          <a:p>
            <a:pPr algn="ctr">
              <a:spcAft>
                <a:spcPts val="0"/>
              </a:spcAft>
            </a:pPr>
            <a:r>
              <a:rPr sz="1050" b="0" i="1">
                <a:solidFill>
                  <a:srgbClr val="5A4230"/>
                </a:solidFill>
                <a:latin typeface="Georgia"/>
              </a:rPr>
              <a:t>An Honest Panel With Med Students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40" y="5532120"/>
            <a:ext cx="3063240" cy="960120"/>
          </a:xfrm>
          <a:prstGeom prst="roundRect">
            <a:avLst/>
          </a:prstGeom>
          <a:solidFill>
            <a:srgbClr val="FBF6EC"/>
          </a:solidFill>
          <a:ln w="17780">
            <a:solidFill>
              <a:srgbClr val="2F5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87368" y="5605272"/>
            <a:ext cx="2843784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2F5D43"/>
                </a:solidFill>
                <a:latin typeface="Georgia"/>
              </a:rPr>
              <a:t>De-Stress Events</a:t>
            </a:r>
          </a:p>
          <a:p>
            <a:pPr algn="ctr">
              <a:spcAft>
                <a:spcPts val="0"/>
              </a:spcAft>
            </a:pPr>
            <a:r>
              <a:rPr sz="1050" b="1" i="1">
                <a:solidFill>
                  <a:srgbClr val="7A5B16"/>
                </a:solidFill>
                <a:latin typeface="Georgia"/>
              </a:rPr>
              <a:t>Reading Period</a:t>
            </a:r>
          </a:p>
          <a:p>
            <a:pPr algn="ctr">
              <a:spcAft>
                <a:spcPts val="0"/>
              </a:spcAft>
            </a:pPr>
            <a:r>
              <a:rPr sz="1050" b="0" i="1">
                <a:solidFill>
                  <a:srgbClr val="5A4230"/>
                </a:solidFill>
                <a:latin typeface="Georgia"/>
              </a:rPr>
              <a:t>Comfort Food &amp; Calm During Finals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6629400"/>
            <a:ext cx="3063240" cy="960120"/>
          </a:xfrm>
          <a:prstGeom prst="roundRect">
            <a:avLst/>
          </a:prstGeom>
          <a:solidFill>
            <a:srgbClr val="FBF6EC"/>
          </a:solidFill>
          <a:ln w="17780">
            <a:solidFill>
              <a:srgbClr val="2F5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6702552"/>
            <a:ext cx="2843784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2F5D43"/>
                </a:solidFill>
                <a:latin typeface="Georgia"/>
              </a:rPr>
              <a:t>Giveaways</a:t>
            </a:r>
          </a:p>
          <a:p>
            <a:pPr algn="ctr">
              <a:spcAft>
                <a:spcPts val="0"/>
              </a:spcAft>
            </a:pPr>
            <a:r>
              <a:rPr sz="1050" b="1" i="1">
                <a:solidFill>
                  <a:srgbClr val="7A5B16"/>
                </a:solidFill>
                <a:latin typeface="Georgia"/>
              </a:rPr>
              <a:t>All Semester!</a:t>
            </a:r>
          </a:p>
          <a:p>
            <a:pPr algn="ctr">
              <a:spcAft>
                <a:spcPts val="0"/>
              </a:spcAft>
            </a:pPr>
            <a:r>
              <a:rPr sz="1050" b="0" i="1">
                <a:solidFill>
                  <a:srgbClr val="5A4230"/>
                </a:solidFill>
                <a:latin typeface="Georgia"/>
              </a:rPr>
              <a:t>Free Stuff, Thanks To Our Sponsors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40" y="6629400"/>
            <a:ext cx="3063240" cy="960120"/>
          </a:xfrm>
          <a:prstGeom prst="roundRect">
            <a:avLst/>
          </a:prstGeom>
          <a:solidFill>
            <a:srgbClr val="FBF6EC"/>
          </a:solidFill>
          <a:ln w="17780">
            <a:solidFill>
              <a:srgbClr val="2F5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87368" y="6702552"/>
            <a:ext cx="2843784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2F5D43"/>
                </a:solidFill>
                <a:latin typeface="Georgia"/>
              </a:rPr>
              <a:t>Join The E-Board</a:t>
            </a:r>
          </a:p>
          <a:p>
            <a:pPr algn="ctr">
              <a:spcAft>
                <a:spcPts val="0"/>
              </a:spcAft>
            </a:pPr>
            <a:r>
              <a:rPr sz="1050" b="1" i="1">
                <a:solidFill>
                  <a:srgbClr val="7A5B16"/>
                </a:solidFill>
                <a:latin typeface="Georgia"/>
              </a:rPr>
              <a:t>Sept 18</a:t>
            </a:r>
          </a:p>
          <a:p>
            <a:pPr algn="ctr">
              <a:spcAft>
                <a:spcPts val="0"/>
              </a:spcAft>
            </a:pPr>
            <a:r>
              <a:rPr sz="1050" b="0" i="1">
                <a:solidFill>
                  <a:srgbClr val="5A4230"/>
                </a:solidFill>
                <a:latin typeface="Georgia"/>
              </a:rPr>
              <a:t>Open Leadership Roles This Fall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7772400"/>
            <a:ext cx="6309360" cy="1417320"/>
          </a:xfrm>
          <a:prstGeom prst="roundRect">
            <a:avLst/>
          </a:prstGeom>
          <a:solidFill>
            <a:srgbClr val="2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qr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7955279"/>
            <a:ext cx="1051560" cy="10515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057400" y="7772400"/>
            <a:ext cx="489204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Scan To Join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F2C766"/>
                </a:solidFill>
                <a:latin typeface="Georgia"/>
              </a:rPr>
              <a:t>Mailing List, Mentorship &amp; E-Board</a:t>
            </a:r>
          </a:p>
          <a:p>
            <a:pPr algn="l">
              <a:spcAft>
                <a:spcPts val="200"/>
              </a:spcAft>
            </a:pPr>
            <a:r>
              <a:rPr sz="1250" b="0" i="1">
                <a:solidFill>
                  <a:srgbClr val="ECE6D6"/>
                </a:solidFill>
                <a:latin typeface="Georgia"/>
              </a:rPr>
              <a:t>Brown Bears — Come As You 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400</Words>
  <Application>Microsoft Macintosh PowerPoint</Application>
  <PresentationFormat>Custom</PresentationFormat>
  <Paragraphs>68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Gerkariah, Shine</cp:lastModifiedBy>
  <cp:revision>2</cp:revision>
  <dcterms:created xsi:type="dcterms:W3CDTF">2013-01-27T09:14:16Z</dcterms:created>
  <dcterms:modified xsi:type="dcterms:W3CDTF">2026-09-02T07:43:11Z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2026-09-02T07:43:10Z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40c0ad95-e6b6-4e5a-82df-10df9cf4c6a6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