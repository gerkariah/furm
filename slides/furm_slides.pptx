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722376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274320" y="-274320"/>
            <a:ext cx="4297680" cy="740664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77639" y="-274320"/>
            <a:ext cx="128016" cy="7406640"/>
          </a:xfrm>
          <a:prstGeom prst="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19" y="548640"/>
            <a:ext cx="2743200" cy="274320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E6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603504"/>
            <a:ext cx="2633472" cy="2633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5204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2C766"/>
                </a:solidFill>
                <a:latin typeface="Georgia"/>
              </a:rPr>
              <a:t>Brown PLME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84048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First-Generation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Underrepresented in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Research &amp; Medicine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8064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ECE6D6"/>
                </a:solidFill>
                <a:latin typeface="Georgia"/>
              </a:rPr>
              <a:t>Community · Care · Belonging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029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F5D43"/>
                </a:solidFill>
                <a:latin typeface="Georgia"/>
              </a:rPr>
              <a:t>Who we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7223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u="none">
                <a:solidFill>
                  <a:srgbClr val="5A4230"/>
                </a:solidFill>
                <a:latin typeface="Georgia"/>
              </a:rPr>
              <a:t>A home within Brown PLME for students who care about community, mentorship, and equity in healthcare. We're first-generation and underrepresented in research and medicine — and </a:t>
            </a:r>
            <a:r>
              <a:rPr sz="1600" b="1" i="1" u="sng">
                <a:solidFill>
                  <a:srgbClr val="2F5D43"/>
                </a:solidFill>
                <a:latin typeface="Georgia"/>
              </a:rPr>
              <a:t>YOU</a:t>
            </a:r>
            <a:r>
              <a:rPr sz="1600" b="0" i="0" u="none">
                <a:solidFill>
                  <a:srgbClr val="5A4230"/>
                </a:solidFill>
                <a:latin typeface="Georgia"/>
              </a:rPr>
              <a:t> get to define what that means for </a:t>
            </a:r>
            <a:r>
              <a:rPr sz="1600" b="1" i="1" u="sng">
                <a:solidFill>
                  <a:srgbClr val="2F5D43"/>
                </a:solidFill>
                <a:latin typeface="Georgia"/>
              </a:rPr>
              <a:t>YOU</a:t>
            </a:r>
            <a:r>
              <a:rPr sz="1600" b="0" i="0" u="none">
                <a:solidFill>
                  <a:srgbClr val="5A4230"/>
                </a:solidFill>
                <a:latin typeface="Georgia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A4230"/>
                </a:solidFill>
                <a:latin typeface="Georgia"/>
              </a:rPr>
              <a:t>Whoever you are, if you believe in building more welcoming healthcare spaces, there's a place for you here — we're about belonging and community.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118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F5D43"/>
                </a:solidFill>
                <a:latin typeface="Georgia"/>
              </a:rPr>
              <a:t>This fall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4114800"/>
            <a:ext cx="2331720" cy="77724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4160520"/>
            <a:ext cx="2221991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2F5D43"/>
                </a:solidFill>
                <a:latin typeface="Georgia"/>
              </a:rPr>
              <a:t>Kickoff Social</a:t>
            </a:r>
          </a:p>
          <a:p>
            <a:pPr algn="ctr">
              <a:spcAft>
                <a:spcPts val="100"/>
              </a:spcAft>
            </a:pPr>
            <a:r>
              <a:rPr sz="1050" b="0" i="1">
                <a:solidFill>
                  <a:srgbClr val="7A5B16"/>
                </a:solidFill>
                <a:latin typeface="Georgia"/>
              </a:rPr>
              <a:t>Coming late September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4114800"/>
            <a:ext cx="2331720" cy="77724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4160520"/>
            <a:ext cx="2221991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2F5D43"/>
                </a:solidFill>
                <a:latin typeface="Georgia"/>
              </a:rPr>
              <a:t>CubCare Mentorship</a:t>
            </a:r>
          </a:p>
          <a:p>
            <a:pPr algn="ctr">
              <a:spcAft>
                <a:spcPts val="100"/>
              </a:spcAft>
            </a:pPr>
            <a:r>
              <a:rPr sz="1050" b="0" i="1">
                <a:solidFill>
                  <a:srgbClr val="7A5B16"/>
                </a:solidFill>
                <a:latin typeface="Georgia"/>
              </a:rPr>
              <a:t>October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038344"/>
            <a:ext cx="2331720" cy="77724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5084064"/>
            <a:ext cx="2221991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2F5D43"/>
                </a:solidFill>
                <a:latin typeface="Georgia"/>
              </a:rPr>
              <a:t>Life @ Med School</a:t>
            </a:r>
          </a:p>
          <a:p>
            <a:pPr algn="ctr">
              <a:spcAft>
                <a:spcPts val="100"/>
              </a:spcAft>
            </a:pPr>
            <a:r>
              <a:rPr sz="1050" b="0" i="1">
                <a:solidFill>
                  <a:srgbClr val="7A5B16"/>
                </a:solidFill>
                <a:latin typeface="Georgia"/>
              </a:rPr>
              <a:t>November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5038344"/>
            <a:ext cx="2331720" cy="777240"/>
          </a:xfrm>
          <a:prstGeom prst="roundRect">
            <a:avLst/>
          </a:prstGeom>
          <a:solidFill>
            <a:srgbClr val="FBF6EC"/>
          </a:solidFill>
          <a:ln w="1778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5084064"/>
            <a:ext cx="2221991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 i="0">
                <a:solidFill>
                  <a:srgbClr val="2F5D43"/>
                </a:solidFill>
                <a:latin typeface="Georgia"/>
              </a:rPr>
              <a:t>De-Stress Night</a:t>
            </a:r>
          </a:p>
          <a:p>
            <a:pPr algn="ctr">
              <a:spcAft>
                <a:spcPts val="100"/>
              </a:spcAft>
            </a:pPr>
            <a:r>
              <a:rPr sz="1050" b="0" i="1">
                <a:solidFill>
                  <a:srgbClr val="7A5B16"/>
                </a:solidFill>
                <a:latin typeface="Georgia"/>
              </a:rPr>
              <a:t>Reading Period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961888"/>
            <a:ext cx="4828031" cy="658368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989320"/>
            <a:ext cx="464515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3D2B1F"/>
                </a:solidFill>
                <a:latin typeface="Georgia"/>
              </a:rPr>
              <a:t>Giveaways · All semester!</a:t>
            </a:r>
          </a:p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7A5B16"/>
                </a:solidFill>
                <a:latin typeface="Georgia"/>
              </a:rPr>
              <a:t>Sponsors: AWS, Elks Foundation, Millennium Fellowship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114800"/>
            <a:ext cx="2148840" cy="2331720"/>
          </a:xfrm>
          <a:prstGeom prst="round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4343400"/>
            <a:ext cx="1143000" cy="1143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92640" y="553212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Scan to join</a:t>
            </a:r>
          </a:p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F2C766"/>
                </a:solidFill>
                <a:latin typeface="Georgia"/>
              </a:rPr>
              <a:t>mailing list · mentorship · e-board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182880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1600200"/>
            <a:ext cx="12557455" cy="109728"/>
          </a:xfrm>
          <a:prstGeom prst="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79" y="-45720"/>
            <a:ext cx="1920240" cy="192024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E6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" y="-7315"/>
            <a:ext cx="1843430" cy="1843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51760" y="292608"/>
            <a:ext cx="89611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FURM</a:t>
            </a:r>
          </a:p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F2C766"/>
                </a:solidFill>
                <a:latin typeface="Georgia"/>
              </a:rPr>
              <a:t>First-Generation Underrepresented in Research &amp; Medicine  ·  Brown PLME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5A4230"/>
                </a:solidFill>
                <a:latin typeface="Georgia"/>
              </a:rPr>
              <a:t>We're a home within Brown PLME for students who care about community, mentorship, and equity in healthcare. We're first-generation and underrepresented in research and medicine — and YOU define what that means for you.</a:t>
            </a:r>
          </a:p>
          <a:p>
            <a:pPr algn="ctr">
              <a:spcAft>
                <a:spcPts val="800"/>
              </a:spcAft>
            </a:pPr>
            <a:r>
              <a:rPr sz="1700" b="1" i="1">
                <a:solidFill>
                  <a:srgbClr val="2F5D43"/>
                </a:solidFill>
                <a:latin typeface="Georgia"/>
              </a:rPr>
              <a:t>Whoever you are, there's a place for you here. We're about belonging and community.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2697480" cy="1965960"/>
          </a:xfrm>
          <a:prstGeom prst="roundRect">
            <a:avLst/>
          </a:prstGeom>
          <a:solidFill>
            <a:srgbClr val="FBF6EC"/>
          </a:solidFill>
          <a:ln w="2032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19" y="3675887"/>
            <a:ext cx="2057400" cy="365760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3657600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3D2B1F"/>
                </a:solidFill>
                <a:latin typeface="Georgia"/>
              </a:rPr>
              <a:t>Coming late September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206240"/>
            <a:ext cx="24780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F5D43"/>
                </a:solidFill>
                <a:latin typeface="Georgia"/>
              </a:rPr>
              <a:t>Kickoff Social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A4230"/>
                </a:solidFill>
                <a:latin typeface="Georgia"/>
              </a:rPr>
              <a:t>Food, games &amp; meeting your people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794760"/>
            <a:ext cx="2697480" cy="1965960"/>
          </a:xfrm>
          <a:prstGeom prst="roundRect">
            <a:avLst/>
          </a:prstGeom>
          <a:solidFill>
            <a:srgbClr val="FBF6EC"/>
          </a:solidFill>
          <a:ln w="2032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6472" y="3675887"/>
            <a:ext cx="2057400" cy="365760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3657600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3D2B1F"/>
                </a:solidFill>
                <a:latin typeface="Georgia"/>
              </a:rPr>
              <a:t>October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206240"/>
            <a:ext cx="24780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F5D43"/>
                </a:solidFill>
                <a:latin typeface="Georgia"/>
              </a:rPr>
              <a:t>CubCare Mentorship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A4230"/>
                </a:solidFill>
                <a:latin typeface="Georgia"/>
              </a:rPr>
              <a:t>Get paired with someone who gets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794760"/>
            <a:ext cx="2697480" cy="1965960"/>
          </a:xfrm>
          <a:prstGeom prst="roundRect">
            <a:avLst/>
          </a:prstGeom>
          <a:solidFill>
            <a:srgbClr val="FBF6EC"/>
          </a:solidFill>
          <a:ln w="2032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92824" y="3675887"/>
            <a:ext cx="2057400" cy="365760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3657600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3D2B1F"/>
                </a:solidFill>
                <a:latin typeface="Georgia"/>
              </a:rPr>
              <a:t>November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206240"/>
            <a:ext cx="24780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F5D43"/>
                </a:solidFill>
                <a:latin typeface="Georgia"/>
              </a:rPr>
              <a:t>Life @ Med School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A4230"/>
                </a:solidFill>
                <a:latin typeface="Georgia"/>
              </a:rPr>
              <a:t>An honest panel with med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3794760"/>
            <a:ext cx="2697480" cy="1965960"/>
          </a:xfrm>
          <a:prstGeom prst="roundRect">
            <a:avLst/>
          </a:prstGeom>
          <a:solidFill>
            <a:srgbClr val="FBF6EC"/>
          </a:solidFill>
          <a:ln w="2032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09176" y="3675887"/>
            <a:ext cx="2057400" cy="365760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3657600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3D2B1F"/>
                </a:solidFill>
                <a:latin typeface="Georgia"/>
              </a:rPr>
              <a:t>Reading period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4206240"/>
            <a:ext cx="24780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F5D43"/>
                </a:solidFill>
                <a:latin typeface="Georgia"/>
              </a:rPr>
              <a:t>De-Stress Night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A4230"/>
                </a:solidFill>
                <a:latin typeface="Georgia"/>
              </a:rPr>
              <a:t>Comfort food during finals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F5D43"/>
                </a:solidFill>
                <a:latin typeface="Georgia"/>
              </a:rPr>
              <a:t>Scan the QR to join our mailing list &amp; sign up for mentorship  ·  we do giveaways too!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06670" y="365759"/>
            <a:ext cx="2377440" cy="237744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19" y="413308"/>
            <a:ext cx="2282342" cy="22823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80360"/>
            <a:ext cx="103601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2F5D43"/>
                </a:solidFill>
                <a:latin typeface="Georgia"/>
              </a:rPr>
              <a:t>You belong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5A4230"/>
                </a:solidFill>
                <a:latin typeface="Georgia"/>
              </a:rPr>
              <a:t>First-generation? Underrepresented in medicine or research? However YOU define that — come find your people.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572000"/>
            <a:ext cx="8165592" cy="1097280"/>
          </a:xfrm>
          <a:prstGeom prst="round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4681728"/>
            <a:ext cx="798271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3D2B1F"/>
                </a:solidFill>
                <a:latin typeface="Georgia"/>
              </a:rPr>
              <a:t>KICKOFF SOCIAL  ·  Coming late September</a:t>
            </a:r>
          </a:p>
          <a:p>
            <a:pPr algn="ctr">
              <a:spcAft>
                <a:spcPts val="200"/>
              </a:spcAft>
            </a:pPr>
            <a:r>
              <a:rPr sz="1500" b="0" i="1">
                <a:solidFill>
                  <a:srgbClr val="7A5B16"/>
                </a:solidFill>
                <a:latin typeface="Georgia"/>
              </a:rPr>
              <a:t>Food · games · community — watch your email for the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F5D43"/>
                </a:solidFill>
                <a:latin typeface="Georgia"/>
              </a:rPr>
              <a:t>Scan to join our mailing list &amp; mentorship   ·   Brown Bears — come as you 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4526280"/>
            <a:ext cx="1417320" cy="1417320"/>
          </a:xfrm>
          <a:prstGeom prst="roundRect">
            <a:avLst/>
          </a:prstGeom>
          <a:solidFill>
            <a:srgbClr val="FBF6EC"/>
          </a:solidFill>
          <a:ln w="1905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466344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557455" cy="1463040"/>
          </a:xfrm>
          <a:prstGeom prst="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1234440"/>
            <a:ext cx="12557455" cy="109728"/>
          </a:xfrm>
          <a:prstGeom prst="rect">
            <a:avLst/>
          </a:prstGeom>
          <a:solidFill>
            <a:srgbClr val="E6B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-118872"/>
            <a:ext cx="1554480" cy="1554480"/>
          </a:xfrm>
          <a:prstGeom prst="ellipse">
            <a:avLst/>
          </a:prstGeom>
          <a:solidFill>
            <a:srgbClr val="FBF6EC"/>
          </a:solidFill>
          <a:ln w="38100">
            <a:solidFill>
              <a:srgbClr val="E6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" y="-87782"/>
            <a:ext cx="1492300" cy="1492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91440"/>
            <a:ext cx="9509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You belong here.</a:t>
            </a:r>
          </a:p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F2C766"/>
                </a:solidFill>
                <a:latin typeface="Georgia"/>
              </a:rPr>
              <a:t>FURM · First-Gen &amp; Underrepresented in Research &amp; Medicine · Brown PLME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5A4230"/>
                </a:solidFill>
                <a:latin typeface="Georgia"/>
              </a:rPr>
              <a:t>However YOU define first-generation or underrepresented — come find your people. We're about community, care, and belonging.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5394960" cy="3246120"/>
          </a:xfrm>
          <a:prstGeom prst="roundRect">
            <a:avLst/>
          </a:prstGeom>
          <a:solidFill>
            <a:srgbClr val="FBF6EC"/>
          </a:solidFill>
          <a:ln w="2032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F5D43"/>
                </a:solidFill>
                <a:latin typeface="Georgia"/>
              </a:rPr>
              <a:t>Fall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3D2B1F"/>
                </a:solidFill>
                <a:latin typeface="Georgia"/>
              </a:rPr>
              <a:t>•  Kickoff Social</a:t>
            </a:r>
          </a:p>
          <a:p>
            <a:pPr algn="l">
              <a:spcAft>
                <a:spcPts val="100"/>
              </a:spcAft>
            </a:pPr>
            <a:r>
              <a:rPr sz="1250" b="0" i="1">
                <a:solidFill>
                  <a:srgbClr val="7A5B16"/>
                </a:solidFill>
                <a:latin typeface="Georgia"/>
              </a:rPr>
              <a:t>      Coming late September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12464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3D2B1F"/>
                </a:solidFill>
                <a:latin typeface="Georgia"/>
              </a:rPr>
              <a:t>•  CubCare Mentor / Mentee Program</a:t>
            </a:r>
          </a:p>
          <a:p>
            <a:pPr algn="l">
              <a:spcAft>
                <a:spcPts val="100"/>
              </a:spcAft>
            </a:pPr>
            <a:r>
              <a:rPr sz="1250" b="0" i="1">
                <a:solidFill>
                  <a:srgbClr val="7A5B16"/>
                </a:solidFill>
                <a:latin typeface="Georgia"/>
              </a:rPr>
              <a:t>      October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245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3D2B1F"/>
                </a:solidFill>
                <a:latin typeface="Georgia"/>
              </a:rPr>
              <a:t>•  Life @ Med School (honest panel)</a:t>
            </a:r>
          </a:p>
          <a:p>
            <a:pPr algn="l">
              <a:spcAft>
                <a:spcPts val="100"/>
              </a:spcAft>
            </a:pPr>
            <a:r>
              <a:rPr sz="1250" b="0" i="1">
                <a:solidFill>
                  <a:srgbClr val="7A5B16"/>
                </a:solidFill>
                <a:latin typeface="Georgia"/>
              </a:rPr>
              <a:t>      November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365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3D2B1F"/>
                </a:solidFill>
                <a:latin typeface="Georgia"/>
              </a:rPr>
              <a:t>•  De-Stress Night</a:t>
            </a:r>
          </a:p>
          <a:p>
            <a:pPr algn="l">
              <a:spcAft>
                <a:spcPts val="100"/>
              </a:spcAft>
            </a:pPr>
            <a:r>
              <a:rPr sz="1250" b="0" i="1">
                <a:solidFill>
                  <a:srgbClr val="7A5B16"/>
                </a:solidFill>
                <a:latin typeface="Georgia"/>
              </a:rPr>
              <a:t>      Reading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48656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3D2B1F"/>
                </a:solidFill>
                <a:latin typeface="Georgia"/>
              </a:rPr>
              <a:t>•  Giveaways</a:t>
            </a:r>
          </a:p>
          <a:p>
            <a:pPr algn="l">
              <a:spcAft>
                <a:spcPts val="100"/>
              </a:spcAft>
            </a:pPr>
            <a:r>
              <a:rPr sz="1250" b="0" i="1">
                <a:solidFill>
                  <a:srgbClr val="7A5B16"/>
                </a:solidFill>
                <a:latin typeface="Georgia"/>
              </a:rPr>
              <a:t>      All semester!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14600"/>
            <a:ext cx="5349240" cy="3246120"/>
          </a:xfrm>
          <a:prstGeom prst="roundRect">
            <a:avLst/>
          </a:prstGeom>
          <a:solidFill>
            <a:srgbClr val="2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51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Interested in leadership?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F2C766"/>
                </a:solidFill>
                <a:latin typeface="Georgia"/>
              </a:rPr>
              <a:t>Open E-Board positions this fall (year-long):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Georgia"/>
              </a:rPr>
              <a:t>•  Secretary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Georgia"/>
              </a:rPr>
              <a:t>•  Treasurer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Georgia"/>
              </a:rPr>
              <a:t>•  Underclassman Liaison (’29 &amp; ’30)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98348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Georgia"/>
              </a:rPr>
              <a:t>•  Upperclassman Liaison (’27 &amp; ’28)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1">
                <a:solidFill>
                  <a:srgbClr val="F2C766"/>
                </a:solidFill>
                <a:latin typeface="Georgia"/>
              </a:rPr>
              <a:t>Priority deadline: September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8595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F5D43"/>
                </a:solidFill>
                <a:latin typeface="Georgia"/>
              </a:rPr>
              <a:t>Scan to join our mailing list, mentorship &amp; E-Board — all in one place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852160"/>
            <a:ext cx="914400" cy="868680"/>
          </a:xfrm>
          <a:prstGeom prst="roundRect">
            <a:avLst/>
          </a:prstGeom>
          <a:solidFill>
            <a:srgbClr val="FBF6EC"/>
          </a:solidFill>
          <a:ln w="19050">
            <a:solidFill>
              <a:srgbClr val="2F5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qr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2" y="5916168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